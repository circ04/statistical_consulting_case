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8888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888888"/>
                </a:solidFill>
                <a:latin typeface="Arial"/>
              </a:rPr>
              <a:t>Recommended price changes (all snapshots)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Snapshots</c:v>
                </c:pt>
              </c:strCache>
            </c:strRef>
          </c:tx>
          <c:spPr>
            <a:solidFill>
              <a:srgbClr val="3333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−15%</c:v>
                  </c:pt>
                  <c:pt idx="1">
                    <c:v>−12%</c:v>
                  </c:pt>
                  <c:pt idx="2">
                    <c:v>−9%</c:v>
                  </c:pt>
                  <c:pt idx="3">
                    <c:v>−6%</c:v>
                  </c:pt>
                  <c:pt idx="4">
                    <c:v>−3%</c:v>
                  </c:pt>
                  <c:pt idx="5">
                    <c:v>0%</c:v>
                  </c:pt>
                  <c:pt idx="6">
                    <c:v>+3%</c:v>
                  </c:pt>
                  <c:pt idx="7">
                    <c:v>+6%</c:v>
                  </c:pt>
                  <c:pt idx="8">
                    <c:v>+9%</c:v>
                  </c:pt>
                  <c:pt idx="9">
                    <c:v>+12%</c:v>
                  </c:pt>
                  <c:pt idx="10">
                    <c:v>+15%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85000</c:v>
                </c:pt>
                <c:pt idx="1">
                  <c:v>30000</c:v>
                </c:pt>
                <c:pt idx="2">
                  <c:v>22000</c:v>
                </c:pt>
                <c:pt idx="3">
                  <c:v>28000</c:v>
                </c:pt>
                <c:pt idx="4">
                  <c:v>60000</c:v>
                </c:pt>
                <c:pt idx="5">
                  <c:v>100000</c:v>
                </c:pt>
                <c:pt idx="6">
                  <c:v>62000</c:v>
                </c:pt>
                <c:pt idx="7">
                  <c:v>29000</c:v>
                </c:pt>
                <c:pt idx="8">
                  <c:v>22000</c:v>
                </c:pt>
                <c:pt idx="9">
                  <c:v>28000</c:v>
                </c:pt>
                <c:pt idx="10">
                  <c:v>72000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5555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55555"/>
                    </a:solidFill>
                    <a:latin typeface="Arial"/>
                  </a:rPr>
                  <a:t>Price change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5555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55555"/>
                    </a:solidFill>
                    <a:latin typeface="Arial"/>
                  </a:rPr>
                  <a:t># snapshots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for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Camping Group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2834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Jimmy Zhang · Tobias Vanoverschelde · Fausto De Valck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Posey · Alexander Lievens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520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 Leuven  ·  Statistical Consulting 2025–2026  ·  ORTEC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◀ ◀   ▶ ▶   ≡   ∞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20040" cy="320040"/>
          </a:xfrm>
          <a:prstGeom prst="ellipse">
            <a:avLst/>
          </a:prstGeom>
          <a:solidFill>
            <a:srgbClr val="3333AA"/>
          </a:solidFill>
          <a:ln w="12700">
            <a:solidFill>
              <a:srgbClr val="3333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35331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250K prices to set every year, one pricing trap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64792"/>
            <a:ext cx="320040" cy="320040"/>
          </a:xfrm>
          <a:prstGeom prst="ellipse">
            <a:avLst/>
          </a:prstGeom>
          <a:solidFill>
            <a:srgbClr val="3333AA"/>
          </a:solidFill>
          <a:ln w="12700">
            <a:solidFill>
              <a:srgbClr val="3333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64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7190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0665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identification via Bookings on Books (BoB)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78024"/>
            <a:ext cx="320040" cy="320040"/>
          </a:xfrm>
          <a:prstGeom prst="ellipse">
            <a:avLst/>
          </a:prstGeom>
          <a:solidFill>
            <a:srgbClr val="3333AA"/>
          </a:solidFill>
          <a:ln w="12700">
            <a:solidFill>
              <a:srgbClr val="3333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780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43230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Models, Two Jobs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77977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(estimate) + LightGBM (predict &amp; optimise)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91256"/>
            <a:ext cx="320040" cy="320040"/>
          </a:xfrm>
          <a:prstGeom prst="ellipse">
            <a:avLst/>
          </a:prstGeom>
          <a:solidFill>
            <a:srgbClr val="3333AA"/>
          </a:solidFill>
          <a:ln w="12700">
            <a:solidFill>
              <a:srgbClr val="3333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912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14553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Optimiser Recommends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4930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price changes + €63M projected uplift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04488"/>
            <a:ext cx="320040" cy="320040"/>
          </a:xfrm>
          <a:prstGeom prst="ellipse">
            <a:avLst/>
          </a:prstGeom>
          <a:solidFill>
            <a:srgbClr val="3333AA"/>
          </a:solidFill>
          <a:ln w="12700">
            <a:solidFill>
              <a:srgbClr val="3333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044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8587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42062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experiment + pipeline with dashboard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◀ ◀   ▶ ▶   ≡   ∞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2560320" cy="1783080"/>
          </a:xfrm>
          <a:prstGeom prst="rect">
            <a:avLst>
              <a:gd name="adj" fmla="val 2564"/>
            </a:avLst>
          </a:prstGeom>
          <a:solidFill>
            <a:srgbClr val="F4F6FF"/>
          </a:solidFill>
          <a:ln w="12700">
            <a:solidFill>
              <a:srgbClr val="D0D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20116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Campsites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Europe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051560"/>
            <a:ext cx="2560320" cy="1783080"/>
          </a:xfrm>
          <a:prstGeom prst="rect">
            <a:avLst>
              <a:gd name="adj" fmla="val 2564"/>
            </a:avLst>
          </a:prstGeom>
          <a:solidFill>
            <a:srgbClr val="F4F6FF"/>
          </a:solidFill>
          <a:ln w="12700">
            <a:solidFill>
              <a:srgbClr val="D0D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0972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91840" y="20116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operation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051560"/>
            <a:ext cx="2560320" cy="1783080"/>
          </a:xfrm>
          <a:prstGeom prst="rect">
            <a:avLst>
              <a:gd name="adj" fmla="val 2564"/>
            </a:avLst>
          </a:prstGeom>
          <a:solidFill>
            <a:srgbClr val="F4F6FF"/>
          </a:solidFill>
          <a:ln w="12700">
            <a:solidFill>
              <a:srgbClr val="D0D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0972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250K+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80760" y="20116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to set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ROMGID = campsite × accommodation × market × arrival week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7863840" cy="640080"/>
          </a:xfrm>
          <a:prstGeom prst="rect">
            <a:avLst>
              <a:gd name="adj" fmla="val 7143"/>
            </a:avLst>
          </a:prstGeom>
          <a:solidFill>
            <a:srgbClr val="F4F6FF"/>
          </a:solidFill>
          <a:ln w="19050">
            <a:solidFill>
              <a:srgbClr val="3333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historical booking data recommend better prices and increase ECG's revenue?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◀ ◀   ▶ ▶   ≡   ∞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Causal Identification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model (wrong):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560320" cy="1280160"/>
          </a:xfrm>
          <a:prstGeom prst="rect">
            <a:avLst>
              <a:gd name="adj" fmla="val 3571"/>
            </a:avLst>
          </a:prstGeom>
          <a:solidFill>
            <a:srgbClr val="FFF3E0"/>
          </a:solidFill>
          <a:ln w="19050">
            <a:solidFill>
              <a:srgbClr val="E05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+0.29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prices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more bookings?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777240" cy="502920"/>
          </a:xfrm>
          <a:prstGeom prst="ellipse">
            <a:avLst/>
          </a:prstGeom>
          <a:solidFill>
            <a:srgbClr val="FFE8E8"/>
          </a:solidFill>
          <a:ln w="19050">
            <a:solidFill>
              <a:srgbClr val="CC22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37160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(latent)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2606040"/>
            <a:ext cx="777240" cy="457200"/>
          </a:xfrm>
          <a:prstGeom prst="rect">
            <a:avLst>
              <a:gd name="adj" fmla="val 8000"/>
            </a:avLst>
          </a:prstGeom>
          <a:solidFill>
            <a:srgbClr val="F4F6FF"/>
          </a:solidFill>
          <a:ln w="19050">
            <a:solidFill>
              <a:srgbClr val="3333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6060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542032"/>
            <a:ext cx="960120" cy="594360"/>
          </a:xfrm>
          <a:prstGeom prst="rect">
            <a:avLst/>
          </a:prstGeom>
          <a:ln w="9525">
            <a:solidFill>
              <a:srgbClr val="3333A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617720" y="2606040"/>
            <a:ext cx="777240" cy="457200"/>
          </a:xfrm>
          <a:prstGeom prst="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05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6060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2606040"/>
            <a:ext cx="868680" cy="457200"/>
          </a:xfrm>
          <a:prstGeom prst="rect">
            <a:avLst>
              <a:gd name="adj" fmla="val 8000"/>
            </a:avLst>
          </a:prstGeom>
          <a:solidFill>
            <a:srgbClr val="EAF7EE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60604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63340" y="1874520"/>
            <a:ext cx="0" cy="731520"/>
          </a:xfrm>
          <a:prstGeom prst="line">
            <a:avLst/>
          </a:prstGeom>
          <a:noFill/>
          <a:ln w="19050">
            <a:solidFill>
              <a:srgbClr val="CC2200"/>
            </a:solidFill>
            <a:prstDash val="dash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51960" y="1627632"/>
            <a:ext cx="1947672" cy="987552"/>
          </a:xfrm>
          <a:prstGeom prst="line">
            <a:avLst/>
          </a:prstGeom>
          <a:noFill/>
          <a:ln w="19050">
            <a:solidFill>
              <a:srgbClr val="CC2200"/>
            </a:solidFill>
            <a:prstDash val="dash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251960" y="2834640"/>
            <a:ext cx="365760" cy="0"/>
          </a:xfrm>
          <a:prstGeom prst="line">
            <a:avLst/>
          </a:prstGeom>
          <a:noFill/>
          <a:ln w="19050">
            <a:solidFill>
              <a:srgbClr val="3333A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94960" y="2834640"/>
            <a:ext cx="365760" cy="0"/>
          </a:xfrm>
          <a:prstGeom prst="line">
            <a:avLst/>
          </a:prstGeom>
          <a:noFill/>
          <a:ln w="3175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160520" y="254203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303520" y="254203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✓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812280" y="1005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conditioning on BoB: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1325880"/>
            <a:ext cx="2011680" cy="1280160"/>
          </a:xfrm>
          <a:prstGeom prst="rect">
            <a:avLst>
              <a:gd name="adj" fmla="val 3571"/>
            </a:avLst>
          </a:prstGeom>
          <a:solidFill>
            <a:srgbClr val="EAF7EE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−0.76 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12280" y="19659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Inelastic: |β|&lt;1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rises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ECG's pricer reacts to demand: high demand → prices ↑, low demand → prices ↓.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prices &amp; high bookings co-occur in the data ⇒ naïve regression gets the wrong sign.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Conditioning on BoB closes this backdoor.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◀ ◀   ▶ ▶   ≡   ∞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Models, Two Jobs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566160"/>
          </a:xfrm>
          <a:prstGeom prst="rect">
            <a:avLst>
              <a:gd name="adj" fmla="val 1282"/>
            </a:avLst>
          </a:prstGeom>
          <a:solidFill>
            <a:srgbClr val="F4F6FF"/>
          </a:solidFill>
          <a:ln w="12700">
            <a:solidFill>
              <a:srgbClr val="D0D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v3 · Bayesian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estimate elasticity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657600" cy="731520"/>
          </a:xfrm>
          <a:prstGeom prst="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0D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−0.76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inelastic demand, |β| &lt;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Minimal: only BoB + price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make future predictions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rises when price rises on average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3566160"/>
          </a:xfrm>
          <a:prstGeom prst="rect">
            <a:avLst>
              <a:gd name="adj" fmla="val 1282"/>
            </a:avLst>
          </a:prstGeom>
          <a:solidFill>
            <a:srgbClr val="EAF7E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· Gradient Boosting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&amp; optimise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874520"/>
            <a:ext cx="3657600" cy="731520"/>
          </a:xfrm>
          <a:prstGeom prst="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≈ −0.75 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Bayesian estimate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27889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lead time &amp; calendar features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error: 27% per ROMGID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demand curve → interior optima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◀ ◀   ▶ ▶   ≡   ∞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Optimiser Recommends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1005840"/>
            <a:ext cx="3108960" cy="960120"/>
          </a:xfrm>
          <a:prstGeom prst="rect">
            <a:avLst>
              <a:gd name="adj" fmla="val 4762"/>
            </a:avLst>
          </a:prstGeom>
          <a:solidFill>
            <a:srgbClr val="F4F6FF"/>
          </a:solidFill>
          <a:ln w="12700">
            <a:solidFill>
              <a:srgbClr val="D0D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0" y="1051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66928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optimum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at boundary)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669280" y="2103120"/>
            <a:ext cx="3108960" cy="960120"/>
          </a:xfrm>
          <a:prstGeom prst="rect">
            <a:avLst>
              <a:gd name="adj" fmla="val 4762"/>
            </a:avLst>
          </a:prstGeom>
          <a:solidFill>
            <a:srgbClr val="EAF7E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€63M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66928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uplift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(+38.8%)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0" y="3200400"/>
            <a:ext cx="3108960" cy="960120"/>
          </a:xfrm>
          <a:prstGeom prst="rect">
            <a:avLst>
              <a:gd name="adj" fmla="val 4762"/>
            </a:avLst>
          </a:prstGeom>
          <a:solidFill>
            <a:srgbClr val="FFF3EC"/>
          </a:solidFill>
          <a:ln w="12700">
            <a:solidFill>
              <a:srgbClr val="F0C0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3246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51/49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669280" y="3749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/ yellow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split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€63M uplift is a model projection and likely optimistic. A randomised experiment is needed.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◀ ◀   ▶ ▶   ≡   ∞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ECG Should Do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65760" cy="365760"/>
          </a:xfrm>
          <a:prstGeom prst="ellipse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1430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price experiment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100–200 ROMGIDs · prices randomised ±25% · one 30-week season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unbiased elasticity estimate · tests beyond ±15% safety range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365760" cy="365760"/>
          </a:xfrm>
          <a:prstGeom prst="ellipse">
            <a:avLst/>
          </a:prstGeom>
          <a:solidFill>
            <a:srgbClr val="3333AA"/>
          </a:solidFill>
          <a:ln w="12700">
            <a:solidFill>
              <a:srgbClr val="3333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8346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dashboard (nightly rerun)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97280" y="32918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Recommendations.csv per ROMGID · green/yellow flags · sortable dashboard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6576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builds managerial trust · managers audit anomalies, not all prices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tracks run in parallel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◀ ◀   ▶ ▶   ≡   ∞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2560320" cy="2194560"/>
          </a:xfrm>
          <a:prstGeom prst="rect">
            <a:avLst>
              <a:gd name="adj" fmla="val 2083"/>
            </a:avLst>
          </a:prstGeom>
          <a:solidFill>
            <a:srgbClr val="F4F6FF"/>
          </a:solidFill>
          <a:ln w="19050">
            <a:solidFill>
              <a:srgbClr val="D0D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43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−0.76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205740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price elasticity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closing the backdoor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560320" cy="2194560"/>
          </a:xfrm>
          <a:prstGeom prst="rect">
            <a:avLst>
              <a:gd name="adj" fmla="val 2083"/>
            </a:avLst>
          </a:prstGeom>
          <a:solidFill>
            <a:srgbClr val="EAF7EE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143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91840" y="205740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at interior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optimum, bidirectional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005840"/>
            <a:ext cx="2560320" cy="2194560"/>
          </a:xfrm>
          <a:prstGeom prst="rect">
            <a:avLst>
              <a:gd name="adj" fmla="val 2083"/>
            </a:avLst>
          </a:prstGeom>
          <a:solidFill>
            <a:srgbClr val="FFF3EC"/>
          </a:solidFill>
          <a:ln w="19050">
            <a:solidFill>
              <a:srgbClr val="F0C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143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tracks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080760" y="205740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+ pipeline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verify &amp; deploy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8138160" cy="1051560"/>
          </a:xfrm>
          <a:prstGeom prst="rect">
            <a:avLst>
              <a:gd name="adj" fmla="val 4348"/>
            </a:avLst>
          </a:prstGeom>
          <a:solidFill>
            <a:srgbClr val="F4F6FF"/>
          </a:solidFill>
          <a:ln w="19050">
            <a:solidFill>
              <a:srgbClr val="3333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11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is leaving money on the table.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40416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randomised experiment + a validation pipeline will answer how much, at minimal cost.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◀ ◀   ▶ ▶   ≡   ∞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Pricing for European Camping Group</dc:title>
  <dc:subject>PptxGenJS Presentation</dc:subject>
  <dc:creator>PptxGenJS</dc:creator>
  <cp:lastModifiedBy>PptxGenJS</cp:lastModifiedBy>
  <cp:revision>1</cp:revision>
  <dcterms:created xsi:type="dcterms:W3CDTF">2026-05-11T14:40:16Z</dcterms:created>
  <dcterms:modified xsi:type="dcterms:W3CDTF">2026-05-11T14:40:16Z</dcterms:modified>
</cp:coreProperties>
</file>